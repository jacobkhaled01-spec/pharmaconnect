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731520"/>
            <a:ext cx="10362895" cy="5394960"/>
          </a:xfrm>
          <a:prstGeom prst="roundRect">
            <a:avLst/>
          </a:prstGeom>
          <a:solidFill>
            <a:srgbClr val="064E3B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097280"/>
            <a:ext cx="94484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0B981"/>
                </a:solidFill>
                <a:latin typeface="Segoe UI"/>
              </a:defRPr>
            </a:pPr>
            <a:r>
              <a:t>مشروع مناقشة مقرر بنية وبرمجة أنظمة الخادم والعميل (Level 4)</a:t>
            </a:r>
          </a:p>
          <a:p>
            <a:pPr algn="ctr">
              <a:spcBef>
                <a:spcPts val="1200"/>
              </a:spcBef>
              <a:defRPr sz="3600" b="1">
                <a:solidFill>
                  <a:srgbClr val="F8FAFC"/>
                </a:solidFill>
                <a:latin typeface="Segoe UI"/>
              </a:defRPr>
            </a:pPr>
            <a:r>
              <a:t>نظام فارما-كونكت (PharmaConnect)</a:t>
            </a:r>
          </a:p>
          <a:p>
            <a:pPr algn="ctr">
              <a:spcBef>
                <a:spcPts val="1000"/>
              </a:spcBef>
              <a:defRPr sz="1800">
                <a:solidFill>
                  <a:srgbClr val="D1FAE5"/>
                </a:solidFill>
                <a:latin typeface="Segoe UI"/>
              </a:defRPr>
            </a:pPr>
            <a:r>
              <a:t>منصة موزعة ذكية لتتبع وفرة الأدوية الحيوية وإدارة المخزون متعدد الصيدليات بالحجز المؤقت المتزامن</a:t>
            </a:r>
          </a:p>
          <a:p>
            <a:pPr algn="ctr">
              <a:spcBef>
                <a:spcPts val="1400"/>
              </a:spcBef>
              <a:defRPr sz="1400">
                <a:solidFill>
                  <a:srgbClr val="10B981"/>
                </a:solidFill>
              </a:defRPr>
            </a:pPr>
            <a:r>
              <a:t>━━━━━━━━━━━━━━━━━━━━━━━━━━━━━━━━━━━━━━━━</a:t>
            </a:r>
          </a:p>
          <a:p>
            <a:pPr algn="ctr">
              <a:spcBef>
                <a:spcPts val="1200"/>
              </a:spcBef>
              <a:defRPr sz="1500">
                <a:solidFill>
                  <a:srgbClr val="F8FAFC"/>
                </a:solidFill>
                <a:latin typeface="Segoe UI"/>
              </a:defRPr>
            </a:pPr>
            <a:r>
              <a:t>التقنيات المستخدمة: Laravel 11 RESTful API  •  Flutter 3 Cross-Platform  •  Relational 3NF Database</a:t>
            </a:r>
          </a:p>
          <a:p>
            <a:pPr algn="ctr">
              <a:spcBef>
                <a:spcPts val="1600"/>
              </a:spcBef>
              <a:defRPr sz="1400" b="1">
                <a:solidFill>
                  <a:srgbClr val="10B981"/>
                </a:solidFill>
                <a:latin typeface="Segoe UI"/>
              </a:defRPr>
            </a:pPr>
            <a:r>
              <a:t>إشراف ومناقشة: لجنة التحكيم الأكاديمية الموقرة  |  سبتمبر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مشروع تخرج — نظام خادم وعميل (Level 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F8FAFC"/>
                </a:solidFill>
                <a:latin typeface="Segoe UI"/>
              </a:defRPr>
            </a:pPr>
            <a:r>
              <a:t>1. المشكلة الواقعية ودوافع بناء النظام الموزع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475487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DC2626"/>
                </a:solidFill>
                <a:latin typeface="Segoe UI"/>
              </a:defRPr>
            </a:pPr>
            <a:r>
              <a:t>معاناة الواقع الصحي القائم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البحث العشوائي المتعب: هدر من 45 إلى 120 دقيقة سيراً على الأقدام للبحث عن دواء حرج.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عزلة الأنظمة الصيدلانية: كل صيدلية تعمل كجزيرة منعزلة بقاعدة بيانات محلية مغلقة.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ظاهرة الاتصال الكاذب: التأكيد شفهياً بالهاتف ثم بيع الدواء لعميل آخر قبل وصول المريض.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انعدام الشفافية في الأسعار: تباين أسعار الأدوية لنفس الصنف بين صيدليات الحي الواحد.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64E3B"/>
                </a:solidFill>
                <a:latin typeface="Segoe UI"/>
              </a:defRPr>
            </a:pPr>
            <a:r>
              <a:t>أهداف وحلول PharmaConnect الهندسية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استعلام لحظي كروي: معرفة أماكن توفر الدواء فورياً بالاسم العلمي أو التجاري مع المسافة بالأمتار.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حجز مؤقت عادل (30 دقيقة TTL): يضمن وصول المريض للدواء دون تعطيل الصيدلي في حال تخلفه.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حماية المخزون من التنافس (Zero Race-Conditions): قفل تشاؤمي صارم يمنع البيع المزدوج.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مرونة العمل ومراعاة بيئة اليمن: دعم كامل للعمل حتى عند ضعف وتذبذب شبكة الإنترنت.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مشروع تخرج — نظام خادم وعميل (Level 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F8FAFC"/>
                </a:solidFill>
                <a:latin typeface="Segoe UI"/>
              </a:defRPr>
            </a:pPr>
            <a:r>
              <a:t>2. المعمارية الموزعة ثلاثية الطبقات (3-Tier Distributed Architecture)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32918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29260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D9488"/>
                </a:solidFill>
                <a:latin typeface="Segoe UI"/>
              </a:defRPr>
            </a:pPr>
            <a:r>
              <a:t>1. Presentation Tier (العرض)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تطبيق المريض (Flutter): واجهة لحظية للبحث والحجز.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بوابة الصيدلية (Web Portal): تعديل المخزون والأسعار.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أنظمة الصيدليات (B2B): كاشير ونقاط البيع POS.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قنوات اتصال خفيفة: JSON Over HTTPS (Port 443).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463040"/>
            <a:ext cx="3657600" cy="457200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291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64E3B"/>
                </a:solidFill>
                <a:latin typeface="Segoe UI"/>
              </a:defRPr>
            </a:pPr>
            <a:r>
              <a:t>2. Application Tier (المنطق)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بوابة الواجهات: RESTful API Gateway (Laravel 11).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الأمان والمصادقة: توكنات مشفرة بـ Laravel Sanctum.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محركات الخدمات: GeoSearchService و ReservationService.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نمط المستودعات: Repository Pattern لعزل الاستعلامات.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0" y="1463040"/>
            <a:ext cx="310896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59" y="1600200"/>
            <a:ext cx="2743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F172A"/>
                </a:solidFill>
                <a:latin typeface="Segoe UI"/>
              </a:defRPr>
            </a:pPr>
            <a:r>
              <a:t>3. Data Tier (البيانات)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قاعدة بيانات علائقية 3NF.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محرك المعاملات الذرية ACID.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قفل الصفوف: lockForUpdate.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تكامل مرجعي بالمفاتيح الأجنبية.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مشروع تخرج — نظام خادم وعميل (Level 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F8FAFC"/>
                </a:solidFill>
                <a:latin typeface="Segoe UI"/>
              </a:defRPr>
            </a:pPr>
            <a:r>
              <a:t>3. هندسة البيانات والشكل المعياري الثالث (3NF Database)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475487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64E3B"/>
                </a:solidFill>
                <a:latin typeface="Segoe UI"/>
              </a:defRPr>
            </a:pPr>
            <a:r>
              <a:t>هيكلية الجداول السبعة المترابطة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users: هويات المرضى ومدراء الصيدليات والمشرفين مع RBAC.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pharmacies: بيانات الصيدلية، الهاتف، والإحداثيات الجغرافية (lat, lng).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medicines: الكتالوج القومي الموحد (الاسم التجاري والعلمي، العيار، الشركة).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pharmacy_medicines: الوسيط المتعدد للربط (المخزون والسعر الفعلي).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reservations: تذاكر الحجز ومؤقت الـ TTL وكود الحجز الفريد.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reservation_items: تفاصيل أصناف الحجز المحسوبة لحظياً.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personal_access_tokens: توكنات المصادقة المشفرة (Sanctum).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D9488"/>
                </a:solidFill>
                <a:latin typeface="Segoe UI"/>
              </a:defRPr>
            </a:pPr>
            <a:r>
              <a:t>مزايا التصميم المعياري أمام اللجنة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انعدام التكرار التام (Zero Redundancy): اسم الدواء ومواصفاته تسجل مرة واحدة فقط.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مرونة التسعير المستقل: كل صيدلية تحدد سعرها وكميتها بشكل منفصل تماماً.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دورة حياة الحجز الخماسية الصارمة: pending -&gt; confirmed -&gt; completed / cancelled / expired.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حماية التكامل المرجعي: قيود المفاتيح الأجنبية تمنع وجود حجز لصيدلية غير مسجلة.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مشروع تخرج — نظام خادم وعميل (Level 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F8FAFC"/>
                </a:solidFill>
                <a:latin typeface="Segoe UI"/>
              </a:defRPr>
            </a:pPr>
            <a:r>
              <a:t>4. حل معضلة التزامن والرياضيات الكروية (Concurrency &amp; Haversine)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475487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64E3B"/>
                </a:solidFill>
                <a:latin typeface="Segoe UI"/>
              </a:defRPr>
            </a:pPr>
            <a:r>
              <a:t>حل الـ Race Condition بالقفل التشاؤمي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المشكلة: ضغط مريضين لحجز آخر علبة في نفس الجزء من الثانية.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الحل: تطبيق lockForUpdate داخل معاملة ذرية DB::transaction.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الآلية: محرك InnoDB يقفل الصف فورياً؛ يدخل الطلب الأول ويخصم الكمية، والطلب الثاني يُرفض فورياً بـ 422.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النتيجة: منع البيع المزدوج بنسبة 0% أخطاء وحماية مصداقية الصيدلية.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57200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64E3B"/>
                </a:solidFill>
                <a:latin typeface="Segoe UI"/>
              </a:defRPr>
            </a:pPr>
            <a:r>
              <a:t>خوارزمية هافرسين الكروية (Haversine)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المشكلة: المسافة الإقليدية تفترض تسطح الأرض وتعطي أخطاءً فادحة.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الحل: تطبيق صيغة هافرسين الدقيقة مع نصف قطر الأرض R = 6371 كم.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الآلية: حساب الإزاحة الكروية وترتيب الصيدليات من الأقرب لحظياً.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الاستقلالية: تعمل خوارزمياً داخل الخادم دون الحاجة لأي مفاتيح خارجية مدفوعة.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مشروع تخرج — نظام خادم وعميل (Level 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F8FAFC"/>
                </a:solidFill>
                <a:latin typeface="Segoe UI"/>
              </a:defRPr>
            </a:pPr>
            <a:r>
              <a:t>5. تطبيق الهاتف المحمول (Flutter &amp; Clean Architecture)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475487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64E3B"/>
                </a:solidFill>
                <a:latin typeface="Segoe UI"/>
              </a:defRPr>
            </a:pPr>
            <a:r>
              <a:t>المعمارية النظيفة وتجربة المريض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فصل الطبقات الثلاث (Clean Architecture):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  - core: خدمات الشبكة ApiService وتحديد الموقع والثيمات.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  - data: نماذج البيانات المحكمة وتحويل الـ JSON الآمن.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  - presentation: الشاشات التفاعلية والويدجتس المستقلة.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التصميم الطبي المعتمد: الأخضر الزمردي (#059669) والأبيض الطبي.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خريطة المسار الذكية: تعتمد على مربعات OpenStreetMap / CartoDB المجانية.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D9488"/>
                </a:solidFill>
                <a:latin typeface="Segoe UI"/>
              </a:defRPr>
            </a:pPr>
            <a:r>
              <a:t>تذكرة الحجز الذكية والمزامنة الحية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مؤقت عد تنازلي حي (30 دقيقة): مبرمج لإنعاش الشاشة بالثواني.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رمز الحجز السريع و QR Code: لتأكيد الاستلام بماسح الباركود.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المزامنة اللحظية مع الصيدلي: فور ضغط الصيدلي 'تم التسليم'، تلتقط الشاشة التأكيد وتتحول لشارة النجاح الخضراء فوراً.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مرونة الشبكة (Resilience): عمل التطبيق بسلاسة وعدم انهياره حتى مع تذبذب الاتصال.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مشروع تخرج — نظام خادم وعميل (Level 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F8FAFC"/>
                </a:solidFill>
                <a:latin typeface="Segoe UI"/>
              </a:defRPr>
            </a:pPr>
            <a:r>
              <a:t>6. بوابة الصيدلية والربط المحاسبي (Pharmacy Portal &amp; B2B)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475487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64E3B"/>
                </a:solidFill>
                <a:latin typeface="Segoe UI"/>
              </a:defRPr>
            </a:pPr>
            <a:r>
              <a:t>بوابة الويب للصيدليات (Web Portal)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لوحة خفيفة وسريعة تعمل من متصفح أي كمبيوتر أو هاتف.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إدارة المخزون اللحظي: تحديث الأسعار وتنبيهات المخزون الحرج.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شاشة الحجوزات الواردة: مزامنة حية (Auto-Refresh كل 5 ثوانٍ).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تأكيد تسليم الدواء بضغطة زر واحدة وإغلاق المعاملة بنجاح.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أمان الجلسات وحماية الـ CSRF ومكافحة التزوير.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57200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64E3B"/>
                </a:solidFill>
                <a:latin typeface="Segoe UI"/>
              </a:defRPr>
            </a:pPr>
            <a:r>
              <a:t>بوابة الربط المحاسبي (B2B Partner API)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التكامل مع الأنظمة القائمة (يمن سوفت، الإبداع، المتكامل).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واجهة مزامنة المخزون: POST /api/v1/partner/inventory/sync لتحديث آلاف الأصناف دفعة واحدة.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واجهة تحديث الكاشير: POST /api/v1/partner/inventory/update-item لتعديل رصيد صنف واحد فور بيعه محلياً.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واجهة صرف الحجز: POST /api/v1/partner/reservations/{id}/fulfill عبر قارئ الباركود.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مشروع تخرج — نظام خادم وعميل (Level 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F8FAFC"/>
                </a:solidFill>
                <a:latin typeface="Segoe UI"/>
              </a:defRPr>
            </a:pPr>
            <a:r>
              <a:t>7. ضمان الجودة وخطوط التكامل المستمر (QA &amp; CI/CD)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475487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64E3B"/>
                </a:solidFill>
                <a:latin typeface="Segoe UI"/>
              </a:defRPr>
            </a:pPr>
            <a:r>
              <a:t>منهجية الحلقات المغلقة (Looping Engineering)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دورة تطوير صارمة: تخطيط -&gt; تنفيذ معياري -&gt; اختبار آلي -&gt; تدقيق -&gt; توثيق فوري في CHANGELOG.md.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فحص التنسيق والجودة التلقائي: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  - كود PHP خاضع لأداة Laravel Pint بنسبة توافق 100%.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  - كود Dart خاضع لـ Flutter Analyze بصفر أخطاء وصفر تحذيرات.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توثيق احترافي شامل وفق معايير APA 7th Edition.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D9488"/>
                </a:solidFill>
                <a:latin typeface="Segoe UI"/>
              </a:defRPr>
            </a:pPr>
            <a:r>
              <a:t>أتمتة الاختبارات والنشر على GitHub Actions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12 اختبار تكاملي ووظيفي مؤتمت في الباك إند تغطي قفل التزامن والبحث وعزل الحسابات.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اختبارات النماذج والواجهات في Flutter بنسبة نجاح 100%.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حماية فرع main: منع دمج أي كود لا يجتاز كافة الاختبارات بنجاح.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نشر سحابي آلي إلى منصة Render بمجرد اكتمال الفحص التلقائي.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مشروع تخرج — نظام خادم وعميل (Level 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F8FAFC"/>
                </a:solidFill>
                <a:latin typeface="Segoe UI"/>
              </a:defRPr>
            </a:pPr>
            <a:r>
              <a:t>8. سيناريو العرض العملي الحي أمام اللجنة (Live Demo Sequence)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10698480" cy="4572000"/>
          </a:xfrm>
          <a:prstGeom prst="roundRect">
            <a:avLst/>
          </a:prstGeom>
          <a:solidFill>
            <a:srgbClr val="D1FAE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1033271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64E3B"/>
                </a:solidFill>
                <a:latin typeface="Segoe UI"/>
              </a:defRPr>
            </a:pPr>
            <a:r>
              <a:t>خطة الدقيقتين للعرض المشترك (متصفح الويب + هاتف العميل)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1. التعديل بالويب: الصيدلي يسجل دخوله ويعدل مخزون دواء Norvasc إلى 10 علب وسعره إلى 3800 ريال.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2. البحث بالهاتف: المريض يبحث عن Norvasc فتظهر صيدلية الأمل بالسعر الجديد والمسافة الدقيقة.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3. الحجز اللحظي: المريض يحجز عبوة واحدة؛ فتصدر تذكرة بمؤقت 30 دقيقة وكود حجز فريد.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4. الخصم التلقائي: شاشة الصيدلي بالويب تحدث جدولها آلياً وينخفض المخزون فورياً من 10 إلى 9 علب.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5. تأكيد الاستلام: الصيدلي يضغط 'تم التسليم والمحاسبة' فتتحول الحالة فوراً إلى completed.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6. المزامنة اللحظية بالهاتف: شاشة التذكرة لدى المريض تستشعر التأكيد فوراً وتظهر شارة النجاح الخضراء.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64E3B"/>
          </a:solidFill>
          <a:ln>
            <a:solidFill>
              <a:srgbClr val="064E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10B981"/>
                </a:solidFill>
                <a:latin typeface="Segoe UI"/>
              </a:defRPr>
            </a:pPr>
            <a:r>
              <a:t>مشروع تخرج — نظام خادم وعميل (Level 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200" b="1">
                <a:solidFill>
                  <a:srgbClr val="F8FAFC"/>
                </a:solidFill>
                <a:latin typeface="Segoe UI"/>
              </a:defRPr>
            </a:pPr>
            <a:r>
              <a:t>9. الخاتمة وبطاقة إجابات البرق أمام اللجنة (Defense QA)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9728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64748B"/>
                </a:solidFill>
                <a:latin typeface="Segoe UI"/>
              </a:defRPr>
            </a:pPr>
            <a:r>
              <a:t>PharmaConnect System  |  نظام تتبع وفرة الأدوية وإدارة المخزون متعدد الصيدليات  | 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463040"/>
            <a:ext cx="512064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475487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64E3B"/>
                </a:solidFill>
                <a:latin typeface="Segoe UI"/>
              </a:defRPr>
            </a:pPr>
            <a:r>
              <a:t>المنجزات والتوصيات المستقبلية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منظومة متكاملة 3-Tier حقيقية وقابلة للنشر والإنتاج التجاري الفوري.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استقلالية تامة عن الخدمات الخارجية المدفوعة (الخرائط والرسائل).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توصيات التوسع المستقبلي: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  - دمج الدفع الإلكتروني عبر المحافظ الرقمية اليمنية (كاش، جوالي، فلوسك).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  - إدارة أساطيل توصيل الأدوية للمنازل (Medicine Delivery Fleet).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  - التنبؤ بنفاد الأدوية الحرجة باستخدام الذكاء الاصطناعي.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572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DE0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064E3B"/>
                </a:solidFill>
                <a:latin typeface="Segoe UI"/>
              </a:defRPr>
            </a:pPr>
            <a:r>
              <a:t>بطاقة إجابات البرق الحاسمة (Pocket QA)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س: أين منعتم الـ Race Condition؟ -&gt; دالة createReservation بـ lockForUpdate داخل DB::transaction.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س: أين خوارزمية المسافة الكروية؟ -&gt; دالة calculateHaversineDistance بنصف قطر الأرض 6371 كم.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س: كيف تحافظون على الأمان بدون Session بالموبايل؟ -&gt; توكنات مشفرة Bearer Token عبر Laravel Sanctum.</a:t>
            </a:r>
          </a:p>
          <a:p>
            <a:pPr algn="r">
              <a:spcBef>
                <a:spcPts val="800"/>
              </a:spcBef>
              <a:defRPr sz="1300">
                <a:solidFill>
                  <a:srgbClr val="0F172A"/>
                </a:solidFill>
                <a:latin typeface="Segoe UI"/>
              </a:defRPr>
            </a:pPr>
            <a:r>
              <a:t>• س: ما فائدة الـ TTL؟ -&gt; 30 دقيقة توازن بين حق المريض في الوصول وحق الصيدلي في بيع الدواء.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