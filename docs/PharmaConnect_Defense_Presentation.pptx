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48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منظومة خادم وعميل متقدمة (3-Tier Distributed Architecture)</a:t>
            </a:r>
          </a:p>
          <a:p>
            <a:pPr algn="ctr">
              <a:spcBef>
                <a:spcPts val="1200"/>
              </a:spcBef>
              <a:defRPr sz="3600" b="1">
                <a:solidFill>
                  <a:srgbClr val="F8FAFC"/>
                </a:solidFill>
                <a:latin typeface="Segoe UI"/>
              </a:defRPr>
            </a:pPr>
            <a:r>
              <a:t>نظام فارما-كونكت (PharmaConnect)</a:t>
            </a:r>
          </a:p>
          <a:p>
            <a:pPr algn="ctr">
              <a:spcBef>
                <a:spcPts val="1000"/>
              </a:spcBef>
              <a:defRPr sz="1800">
                <a:solidFill>
                  <a:srgbClr val="D1FAE5"/>
                </a:solidFill>
                <a:latin typeface="Segoe UI"/>
              </a:defRPr>
            </a:pPr>
            <a:r>
              <a:t>منصة موزعة ذكية لتتبع وفرة الأدوية الحيوية وإدارة المخزون متعدد الصيدليات بالحجز المؤقت المتزامن</a:t>
            </a:r>
          </a:p>
          <a:p>
            <a:pPr algn="ctr">
              <a:spcBef>
                <a:spcPts val="1400"/>
              </a:spcBef>
              <a:defRPr sz="1400">
                <a:solidFill>
                  <a:srgbClr val="10B981"/>
                </a:solidFill>
              </a:defRPr>
            </a:pPr>
            <a:r>
              <a:t>━━━━━━━━━━━━━━━━━━━━━━━━━━━━━━━━━━━━━━━━</a:t>
            </a:r>
          </a:p>
          <a:p>
            <a:pPr algn="ctr">
              <a:spcBef>
                <a:spcPts val="1200"/>
              </a:spcBef>
              <a:defRPr sz="1500">
                <a:solidFill>
                  <a:srgbClr val="F8FAFC"/>
                </a:solidFill>
                <a:latin typeface="Segoe UI"/>
              </a:defRPr>
            </a:pPr>
            <a:r>
              <a:t>التقنيات المستخدمة: Laravel 11 RESTful API  •  Flutter 3 Client  •  Relational 3NF DB  •  Pessimistic Locking</a:t>
            </a:r>
          </a:p>
          <a:p>
            <a:pPr algn="ctr">
              <a:spcBef>
                <a:spcPts val="16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عرض النظام والحلول المعمارية والتطبيقية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منظومة خادم وعميل موزعة — معمارية 3-Tier Distributed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100" b="1">
                <a:solidFill>
                  <a:srgbClr val="F8FAFC"/>
                </a:solidFill>
                <a:latin typeface="Segoe UI"/>
              </a:defRPr>
            </a:pPr>
            <a:r>
              <a:t>1. المشكلة الواقعية ودوافع بناء النظام الموزع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PharmaConnect System  |  نظام تتبع وفرة الأدوية وإدارة المخزون متعدد الصيدليات  | 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F4444"/>
                </a:solidFill>
                <a:latin typeface="Segoe UI"/>
              </a:defRPr>
            </a:pPr>
            <a:r>
              <a:t>معاناة الواقع الصحي القائم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البحث العشوائي المتعب: هدر من 45 إلى 120 دقيقة سيراً على الأقدام للبحث عن دواء حرج بين الصيدليات.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عزلة الأنظمة الصيدلانية: كل صيدلية تعمل كجزيرة منعزلة بقاعدة بيانات محلية مغلقة دون ربط مركزي.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ظاهرة الاتصال الكاذب: التأكيد شفهياً بالهاتف ثم بيع الدواء لعميل آخر قبل وصول المريض الفعلي.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انعدام الشفافية في الأسعار: تباين حاد في أسعار نفس الصنف الدوائي بين صيدليات الحي الواحد.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3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4E3B"/>
                </a:solidFill>
                <a:latin typeface="Segoe UI"/>
              </a:defRPr>
            </a:pPr>
            <a:r>
              <a:t>حلول PharmaConnect الهندسية المبتكرة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استعلام جغرافي كروي فوري: استكشاف الصيدليات المتوفر لديها الدواء فورياً مع المسافة المحددة بالأمتار.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حجز مؤقت عادل (30 دقيقة TTL): ضمان حق المريض بالوصول وحق الصيدلي في تصريف الدواء دون تجميده.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حماية المخزون بنسبة 0% أخطاء: منع الـ Race Condition بالقفل التشاؤمي الحصري على مستوى الصف.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مرونة عالية وتكامل محاسبي: تطبيق هاتف سريع وبوابة ويب متجاوبة مع واجهات B2B لربط برامج الكاشير.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منظومة خادم وعميل موزعة — معمارية 3-Tier Distributed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100" b="1">
                <a:solidFill>
                  <a:srgbClr val="F8FAFC"/>
                </a:solidFill>
                <a:latin typeface="Segoe UI"/>
              </a:defRPr>
            </a:pPr>
            <a:r>
              <a:t>2. المعمارية الموزعة ثلاثية الطبقات (3-Tier Architecture)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PharmaConnect System  |  نظام تتبع وفرة الأدوية وإدارة المخزون متعدد الصيدليات  | 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4E3B"/>
                </a:solidFill>
                <a:latin typeface="Segoe UI"/>
              </a:defRPr>
            </a:pPr>
            <a:r>
              <a:t>1. Presentation Tier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عميل الهاتف (Flutter): للمرضى للبحث والحجز اللحظي.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بوابة الويب (Blade): للصيدليات لإدارة المخزون والحجوزات.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أنظمة الكاشير (B2B): ربط نقاط البيع المحاسبية.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تخاطب موحد: Stateless RESTful JSON عبر HTTPS.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38328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63039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4E3B"/>
                </a:solidFill>
                <a:latin typeface="Segoe UI"/>
              </a:defRPr>
            </a:pPr>
            <a:r>
              <a:t>2. Logic Tier (Laravel)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بوابة الـ API المركزية: توجيه المسارات وفحص الصلاحيات.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المصادقة والأمان: Sanctum Stateless Bearer Tokens.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الخدمات الأساسية: GeoSearchService و ReservationService.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نمط Repository: عزل قواعد الأعمال عن طبقة البيانات.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63039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4E3B"/>
                </a:solidFill>
                <a:latin typeface="Segoe UI"/>
              </a:defRPr>
            </a:pPr>
            <a:r>
              <a:t>3. Data Tier (Relational DB)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قاعدة بيانات 3NF: القضاء على تكرار البيانات وضمان سلامتها.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المعاملات الذرية: ACID Transactions مع DB::transaction.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قفل الصفوف التشاؤمي: InnoDB Row-Level Locking.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التكامل المرجعي: Foreign Keys مع Cascade &amp; Restrict.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منظومة خادم وعميل موزعة — معمارية 3-Tier Distributed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100" b="1">
                <a:solidFill>
                  <a:srgbClr val="F8FAFC"/>
                </a:solidFill>
                <a:latin typeface="Segoe UI"/>
              </a:defRPr>
            </a:pPr>
            <a:r>
              <a:t>3. هندسة البيانات والشكل المعياري الثالث (3NF Database)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PharmaConnect System  |  نظام تتبع وفرة الأدوية وإدارة المخزون متعدد الصيدليات  | 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4E3B"/>
                </a:solidFill>
                <a:latin typeface="Segoe UI"/>
              </a:defRPr>
            </a:pPr>
            <a:r>
              <a:t>الجداول الـ 7 الرئيسية في النظام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users: إدارة هويات المرضى والصيادلة والمشرفين بالصلاحيات (RBAC).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pharmacies: بيانات الصيدليات، الهواتف، والإحداثيات (lat, lng).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medicines: الفهرس القومي الموحد (الاسم العلمي، التجاري، العيار).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pharmacy_medicines: جدول الربط وإدارة المخزون الفعلي والسعر.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reservations: تذاكر الحجز والمهلة الزمنية TTL وكود الاستلام.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reservation_items: تفاصيل الأصناف المحجوزة والكميات والأسعار.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personal_access_tokens: جلسات توكنات Sanctum المشفرة.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3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4E3B"/>
                </a:solidFill>
                <a:latin typeface="Segoe UI"/>
              </a:defRPr>
            </a:pPr>
            <a:r>
              <a:t>المزايا المعمارية والهندسية للنموذج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انعدام التكرار (Zero Redundancy): تسجيل الدواء مرة واحدة وربط المخزونات به.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استقلالية التسعير: حرية كاملة لكل صيدلية بتحديد كمياتها وأسعارها الخاصة.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دورة حياة الحجز الخماسية: pending -&gt; confirmed -&gt; completed / cancelled / expired.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التكامل المرجعي الصارم: منع الحجوزات الوهمية وضمان سلامة السجلات المالية.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جاهزية التوسع: استيعاب ملايين الأدوية ومئات الصيدليات بكفاءة.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منظومة خادم وعميل موزعة — معمارية 3-Tier Distributed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100" b="1">
                <a:solidFill>
                  <a:srgbClr val="F8FAFC"/>
                </a:solidFill>
                <a:latin typeface="Segoe UI"/>
              </a:defRPr>
            </a:pPr>
            <a:r>
              <a:t>4. كود التخاطب والمصادقة بالتوكنات (REST Auth &amp; Bearer Tokens)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PharmaConnect System  |  نظام تتبع وفرة الأدوية وإدارة المخزون متعدد الصيدليات  | 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العميل: إرسال الطلب والتوكن المشفر  [Flutter / Dart]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84632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frontend/lib/core/network/api_service.dart</a:t>
            </a: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1. تجهيز ترويسات الطلب بنمط RESTful وحقن التوكن المشفر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Map&lt;String, String&gt; get _headers =&gt; 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'Content-Type': 'application/json',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'Accept': 'application/json',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if (_authToken != null)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'Authorization': 'Bearer $_authToken', // توكن مصادقة العميل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};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2. دالة تسجيل الدخول وإرسال بيانات الاعتماد للخادم المركزي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Future&lt;AuthResult&gt; login(String email, String pwd) async 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final uri = Uri.parse('$baseUrl/auth/login');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final res = await http.post(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uri,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headers: _headers,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body: json.encode({'email': email, 'password': pwd}), // تشفير JSON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).timeout(Duration(seconds: 5)); // مهلة حماية من بطء الشبكة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if (res.statusCode == 200) 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final body = json.decode(utf8.decode(res.bodyBytes));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_authToken = body['data']['token']; // حفظ التوكن محلياً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_currentUser = UserModel.fromJson(body['data']['user']);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notifyListeners(); // تحديث واجهات التطبيق فورياً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return AuthResult(success: true, user: _currentUser);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}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الخادم: توجيه المسار والتحقق والرد  [Laravel / PHP]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484632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backend/routes/api.php</a:t>
            </a: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1. مسارات الـ API المحمية بواسطة وسيط Laravel Sanctum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Route::prefix('v1')-&gt;group(function () 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Route::post('/auth/login', [AuthController::class, 'login']); // دخول عام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Route::middleware('auth:sanctum')-&gt;group(function () { // مسارات مؤمنة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Route::get('/auth/profile', [AuthController::class, 'profile']);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Route::post('/auth/logout', [AuthController::class, 'logout']);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});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});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backend/app/Http/Controllers/Api/V1/AuthController.php</a:t>
            </a: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2. التحقق من صحة المدخلات وإصدار توكن Bearer عديم الحالة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public function login(Request $request): JsonResponse 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$data = $request-&gt;validate([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'email' =&gt; 'required|email', 'password' =&gt; 'required|string'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]);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$user = User::where('email', $data['email'])-&gt;first();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if (!$user || !Hash::check($data['password'], $user-&gt;password)) {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    return response()-&gt;json(['message' =&gt; 'بيانات الدخول غير صحيحة'], 422);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}</a:t>
            </a: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    // إصدار توكن مشفر خاص بجلسة تطبيق الهاتف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$token = $user-&gt;createToken('mobile_app')-&gt;plainTextToken;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return response()-&gt;json(['data' =&gt; ['token' =&gt; $token, 'user' =&gt; $user]]);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منظومة خادم وعميل موزعة — معمارية 3-Tier Distributed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100" b="1">
                <a:solidFill>
                  <a:srgbClr val="F8FAFC"/>
                </a:solidFill>
                <a:latin typeface="Segoe UI"/>
              </a:defRPr>
            </a:pPr>
            <a:r>
              <a:t>5. كود الحجز الذري ومنع الـ Race Condition (Atomic Concurrency Locking)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PharmaConnect System  |  نظام تتبع وفرة الأدوية وإدارة المخزون متعدد الصيدليات  | 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العميل: طلب إنشاء حجز مؤقت (TTL)  [Flutter / Dart]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84632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frontend/lib/core/network/api_service.dart</a:t>
            </a: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إرسال طلب حجز دواء مع تحديد مهلة الصلاحية الزمنية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Future&lt;ReservationModel&gt; createReservation({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required int stockId,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int quantity = 1,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int ttlMinutes = 30, // مهلة الحجز الافتراضية 30 دقيقة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}) async 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final uri = Uri.parse('$baseUrl/reservations');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final res = await http.post(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uri,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headers: _headers,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body: json.encode({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'pharmacy_medicine_id': stockId, // معرف الدواء بالصيدلية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'quantity': quantity,             // الكمية المطلوبة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'ttl_minutes': ttlMinutes,        // مهلة حجز الدواء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}),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).timeout(Duration(seconds: 15));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if (res.statusCode == 200 || res.statusCode == 201) 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final body = json.decode(res.body);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final created = ReservationModel.fromJson(body['data']);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_cachedReservations.insert(0, created); // تخزين التذكرة محلياً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notifyListeners(); // بدء مؤقت العد التنازلي الحي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return created;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}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throw Exception('تعذر إتمام الحجز');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الخادم: المعاملة الذرية وقفل lockForUpdate  [Laravel / PHP]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484632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backend/app/Services/ReservationService.php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public function createReservation(int $userId, int $stockId, int $qty): Reservation {</a:t>
            </a: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    // تنفيذ الحجز داخل معاملة ذرية متكاملة (ACID Transaction)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return DB::transaction(function () use ($userId, $stockId, $qty) {</a:t>
            </a: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        // 1. قفل الصف تشاؤمياً لمنع تنافس مريضين على نفس العلبة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$stock = PharmacyMedicine::where('id', $stockId)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    -&gt;lockForUpdate() // قفل حصري في InnoDB يمنع Race Condition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    -&gt;firstOrFail();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        // 2. التحقق الذري من توفر الرصيد الفعلي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    if ($stock-&gt;available_quantity &lt; $qty) 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    throw new Exception('عذراً، الكمية غير متوفرة حالياً');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}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        // 3. الخصم الآمن وتحديث حالة الصنف تلقائياً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$stock-&gt;decrement('available_quantity', $qty);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    if ($stock-&gt;available_quantity === 0) 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    $stock-&gt;update(['status' =&gt; 'out_of_stock']);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}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        // 4. إنشاء سجل الحجز برمز فريد ومؤقت صلاحية 30 دقيقة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    return Reservation::create([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    'user_id' =&gt; $userId, 'pharmacy_id' =&gt; $stock-&gt;pharmacy_id,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    'reservation_code' =&gt; 'RES-'.strtoupper(Str::random(6)),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    'status' =&gt; 'pending', 'expires_at' =&gt; now()-&gt;addMinutes(30)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]);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});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منظومة خادم وعميل موزعة — معمارية 3-Tier Distributed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100" b="1">
                <a:solidFill>
                  <a:srgbClr val="F8FAFC"/>
                </a:solidFill>
                <a:latin typeface="Segoe UI"/>
              </a:defRPr>
            </a:pPr>
            <a:r>
              <a:t>6. كود الاستعلام الجغرافي الكروي (Spherical GeoSearch &amp; Haversine)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PharmaConnect System  |  نظام تتبع وفرة الأدوية وإدارة المخزون متعدد الصيدليات  | 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العميل: إرسال إحداثيات GPS ونصف القطر  [Flutter / Dart]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84632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frontend/lib/core/network/api_service.dart</a:t>
            </a: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تمرير إحداثيات GPS الحالية ونصف قطر البحث في الـ Query String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Future&lt;List&lt;MedicineSearchItem&gt;&gt; searchMedicines({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String? query, double? latitude, double? longitude, double radiusKm = 20.0,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}) async 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final queryParams = &lt;String, String&gt;{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if (query != null) 'q': query,                     // اسم الدواء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if (latitude != null) 'lat': latitude.toString(),  // خط العرض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if (longitude != null) 'lng': longitude.toString(),// خط الطول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'radius': radiusKm.toString(),                     // نصف القطر (كم)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};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final uri = Uri.parse('$baseUrl/medicines/search')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.replace(queryParameters: queryParams);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final res = await http.get(uri, headers: _headers);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final body = json.decode(utf8.decode(res.bodyBytes));</a:t>
            </a: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  // تحويل استجابة الـ JSON لقائمة صيدليات مرتبة بالأمتار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return (body['data'] as List)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.map((item) =&gt; MedicineSearchItem.fromJson(item))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.toList();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الخادم: تطبيق معادلة هافرسين وفرز الأقرب  [Laravel / PHP]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484632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backend/app/Repositories/Eloquent/EloquentMedicineRepository.php</a:t>
            </a: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تطبيق خوارزمية هافرسين الرياضية لحساب المسافة الكروية الحقيقية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private function calculateHaversineDistance(float $lat1, float $lon1, float $lat2, float $lon2): float 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$earthRadiusKm = 6371.0; // نصف قطر كوكب الأرض بالكيلومتر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$dLat = deg2rad($lat2 - $lat1); // تحويل فرق درجات العرض إلى راديان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$dLon = deg2rad($lon2 - $lon1); // تحويل فرق درجات الطول إلى راديان</a:t>
            </a: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    // معادلة هافرسين المثلثية الكروية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$a = sin($dLat / 2) * sin($dLat / 2) +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 cos(deg2rad($lat1)) * cos(deg2rad($lat2)) *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 sin($dLon / 2) * sin($dLon / 2);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$c = 2 * atan2(sqrt($a), sqrt(1 - $a));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return $earthRadiusKm * $c; // الناتج: المسافة الواقعية المستقيمة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}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تصفية الصيدليات ضمن النطاق وفرز النتائج من الأقرب إلى الأبعد للمريض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return $collection-&gt;filter(function ($item) use ($radiusKm) {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return $item-&gt;distance_km &lt;= $radiusKm; // استبعاد الصيدليات البعيدة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})-&gt;sortBy('distance_km')-&gt;values();         // فرز تصاعدي حسب المسافة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منظومة خادم وعميل موزعة — معمارية 3-Tier Distributed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100" b="1">
                <a:solidFill>
                  <a:srgbClr val="F8FAFC"/>
                </a:solidFill>
                <a:latin typeface="Segoe UI"/>
              </a:defRPr>
            </a:pPr>
            <a:r>
              <a:t>7. كود المزامنة اللحظية الحية (Real-Time State Polling &amp; Live Feed)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PharmaConnect System  |  نظام تتبع وفرة الأدوية وإدارة المخزون متعدد الصيدليات  | 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العميل: دورة الاستعلام ومطابقة الحجز  [Flutter / Dart]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84632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frontend/lib/presentation/screens/reservation_pass_screen.dart</a:t>
            </a: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استطلاع دوري لحالة الحجز بالخلفية لاقتناص تأكيد الصيدلي فوراً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void _startStatusPolling() {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_pollTimer = Timer.periodic(const Duration(seconds: 2), (t) async {</a:t>
            </a: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    // استعلام الخادم عن الحالة الحالية للتذكرة بواسطة كود الحجز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final fresh = await ApiService()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.getReservationDetails(_reservation.reservationCode);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if (fresh != null &amp;&amp; mounted) {</a:t>
            </a: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      // التحقق مما إذا تم تأكيد تسليم الدواء بالويب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final becameCompleted = (_reservation.status != 'completed') 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  &amp;&amp; (fresh.status == 'completed');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setState(() 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_reservation = fresh; // تحديث التذكرة في واجهة المريض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_remainingSeconds = fresh.currentRemainingSeconds;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});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  if (becameCompleted) 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t.cancel(); // إيقاف الاستطلاع لتوفير الموارد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HapticFeedback.heavyImpact(); // اهتزاز تفاعلي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_showSuccessBadge(); // إظهار شارة الاستلام الخضراء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}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}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});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بوابة الويب: التحديث التلقائي اللحظي للجدول  [Blade / JavaScript]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484632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backend/resources/views/pharmacy/reservations.blade.php</a:t>
            </a: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فحص دوري كل 5 ثوانٍ لتحديث جدول الحجوزات دون إعادة تحميل الصفحة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async function fetchLatestReservations() {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try {</a:t>
            </a: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        // 1. جلب شريحة الـ HTML المحدثة للحجوزات الواردة من السيرفر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    const res = await fetch('/pharmacy/reservations/live-feed');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    if (res.ok) {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        const htmlText = await res.text();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    const parser = new DOMParser();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    const doc = parser.parseFromString(htmlText, 'text/html');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    const newWrap = doc.getElementById('reservations-table-wrapper');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    const currWrap = document.getElementById('reservations-table-wrapper');</a:t>
            </a: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            // 2. تحديث DOM فقط في حال وجود حجز جديد أو تغيير حالة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        if (newWrap &amp;&amp; currWrap &amp;&amp; currWrap.innerHTML !== newWrap.innerHTML) 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        currWrap.innerHTML = newWrap.innerHTML; // تحديث الجدول آلياً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    }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}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} catch (err) 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console.warn('Auto-sync check failed:', err); // معالجة صامتة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}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}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setInterval(fetchLatestReservations, 5000); // تكرار الفحص دورياً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منظومة خادم وعميل موزعة — معمارية 3-Tier Distributed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100" b="1">
                <a:solidFill>
                  <a:srgbClr val="F8FAFC"/>
                </a:solidFill>
                <a:latin typeface="Segoe UI"/>
              </a:defRPr>
            </a:pPr>
            <a:r>
              <a:t>8. كود بوابة الربط المحاسبي (B2B Partner ERP Integration API)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PharmaConnect System  |  نظام تتبع وفرة الأدوية وإدارة المخزون متعدد الصيدليات  | 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الطلب: حمولة JSON من نظام الكاشير  [REST JSON Payload]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84632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HTTP POST /api/v1/partner/inventory/sync</a:t>
            </a: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Headers: X-Pharmacy-Id: 1 | Content-Type: application/json</a:t>
            </a: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حمولة مزامنة المخزون والأسعار الواردة من برنامج محاسبة الصيدلية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"items": [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"barcode": "6291100123456", // باركود الصنف الدوائي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"quantity": 25,              // الكمية الجديدة بالمخزون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"price": 1200.00             // السعر الفعلي بالريال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},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"barcode": "6291100987654",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"quantity": 10,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"price": 3500.00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}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]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}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استجابة الخادم الفورية بنجاح المزامنة وتحديث الرصيد السحابي: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"success": true,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"message": "تمت مزامنة المخزون بنجاح",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"updated_count": 2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الخادم: معالجة المزامنة الجماعية للمخزون  [Laravel / PHP]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484632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backend/app/Http/Controllers/Api/V1/PartnerIntegrationApiController.php</a:t>
            </a: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// دالة معالجة المزامنة الدورية للمخزون من أنظمة الـ ERP ونقاط البيع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public function syncInventory(Request $request): JsonResponse 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$pharmacy = $this-&gt;resolvePharmacy($request); // استخراج هوية الصيدلية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$validated = $request-&gt;validate([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'items' =&gt; 'required|array|min:1',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'items.*.barcode' =&gt; 'nullable|string',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'items.*.quantity' =&gt; 'required|integer|min:0',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'items.*.price' =&gt; 'required|numeric|min:0',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]);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</a:p>
          <a:p>
            <a:pPr algn="l">
              <a:defRPr sz="919">
                <a:solidFill>
                  <a:srgbClr val="94A3B8"/>
                </a:solidFill>
                <a:latin typeface="Consolas"/>
              </a:defRPr>
            </a:pPr>
            <a:r>
              <a:t>    // معالجة كل صنف وتحديث كميته وسعره بالسجلات السحابية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foreach ($validated['items'] as $itemData) 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$medicine = Medicine::where('barcode', $itemData['barcode'])-&gt;first();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    if ($medicine) {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    PharmacyMedicine::updateOrCreate(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        ['pharmacy_id' =&gt; $pharmacy-&gt;id, 'medicine_id' =&gt; $medicine-&gt;id],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        ['available_quantity' =&gt; $itemData['quantity'], 'price' =&gt; $itemData['price']]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    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    }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    }</a:t>
            </a:r>
          </a:p>
          <a:p>
            <a:pPr algn="l">
              <a:defRPr sz="919">
                <a:solidFill>
                  <a:srgbClr val="F472B6"/>
                </a:solidFill>
                <a:latin typeface="Consolas"/>
              </a:defRPr>
            </a:pPr>
            <a:r>
              <a:t>    return response()-&gt;json(['success' =&gt; true, 'message' =&gt; 'تمت المزامنة بنجاح']);</a:t>
            </a:r>
          </a:p>
          <a:p>
            <a:pPr algn="l">
              <a:defRPr sz="919">
                <a:solidFill>
                  <a:srgbClr val="38BDF8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منظومة خادم وعميل موزعة — معمارية 3-Tier Distributed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100" b="1">
                <a:solidFill>
                  <a:srgbClr val="F8FAFC"/>
                </a:solidFill>
                <a:latin typeface="Segoe UI"/>
              </a:defRPr>
            </a:pPr>
            <a:r>
              <a:t>9. تطبيق الهاتف المحمول (Flutter &amp; Clean Architecture)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PharmaConnect System  |  نظام تتبع وفرة الأدوية وإدارة المخزون متعدد الصيدليات  | 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4E3B"/>
                </a:solidFill>
                <a:latin typeface="Segoe UI"/>
              </a:defRPr>
            </a:pPr>
            <a:r>
              <a:t>هيكلية Clean Architecture في Flutter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طبقة core: إدارة ApiService بنمط Singleton، وخدمة الموقع، وإدارة الثيمات.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طبقة data: نماذج البيانات المحكمة (ReservationModel) وتحويل JSON الآمن.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طبقة presentation: الشاشات والويدجتس الموجهة للمريض مع مؤقتات حية.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خريطة المسار الذكية: تعتمد على مربعات CartoDB / OSM المجانية بدون رسوم.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3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4E3B"/>
                </a:solidFill>
                <a:latin typeface="Segoe UI"/>
              </a:defRPr>
            </a:pPr>
            <a:r>
              <a:t>تذكرة الحجز والمزامنة اللحظية الحية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مؤقت عد تنازلي حي (30 دقيقة): يحسب الثواني التنازلية المتبقية لصلاحية الحجز.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رمز الحجز و QR Code: لعرضه على الصيدلي وتأكيد الاستلام بماسح الباركود.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المزامنة التلقائية اللحظية: فور ضغط الصيدلي 'تم التسليم'، تلتقط التذكرة الحالة فوراً.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مرونة الشبكة (Resilience): عمل التطبيق بسلاسة وتخزين مؤقت عند انقطاع الإنترنت.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منظومة خادم وعميل موزعة — معمارية 3-Tier Distributed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100" b="1">
                <a:solidFill>
                  <a:srgbClr val="F8FAFC"/>
                </a:solidFill>
                <a:latin typeface="Segoe UI"/>
              </a:defRPr>
            </a:pPr>
            <a:r>
              <a:t>10. بوابة الصيدلية والربط المحاسبي (Pharmacy Portal &amp; B2B)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PharmaConnect System  |  نظام تتبع وفرة الأدوية وإدارة المخزون متعدد الصيدليات  | 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4E3B"/>
                </a:solidFill>
                <a:latin typeface="Segoe UI"/>
              </a:defRPr>
            </a:pPr>
            <a:r>
              <a:t>بوابة الويب للصيدليات (Web Portal)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لوحة تحكم خفيفة وسريعة: تفتح من أي جهاز أو متصفح كمبيوتر أو هاتف.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إدارة المخزون اللحظي: تعديل الأسعار والكميات وتنبيهات المخزون الحرج.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شاشة الحجوزات الواردة: مزامنة حية بتحديث تلقائي كل 5 ثوانٍ دون تحديث يدوي.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تأكيد التسليم والمحاسبة: بضغطة زر واحدة لإغلاق الحجز وتحويله لمكتمل.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3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4E3B"/>
                </a:solidFill>
                <a:latin typeface="Segoe UI"/>
              </a:defRPr>
            </a:pPr>
            <a:r>
              <a:t>بوابة الربط المحاسبي (B2B Partner API)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التكامل مع الأنظمة القائمة: (يمن سوفت، الإبداع، المتكامل، وغيرها).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مزامنة المخزون: POST /api/v1/partner/inventory/sync لتحديث آلاف الأصناف دفعة واحدة.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تحديث الكاشير: POST /api/v1/partner/inventory/update-item لتعديل الكمية فور البيع.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صرف الحجز بماسح الباركود: POST /api/v1/partner/reservations/{id}/fulfill.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منظومة خادم وعميل موزعة — معمارية 3-Tier Distributed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100" b="1">
                <a:solidFill>
                  <a:srgbClr val="F8FAFC"/>
                </a:solidFill>
                <a:latin typeface="Segoe UI"/>
              </a:defRPr>
            </a:pPr>
            <a:r>
              <a:t>11. ضمان الجودة وخطوط التكامل المستمر (QA &amp; CI/CD)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PharmaConnect System  |  نظام تتبع وفرة الأدوية وإدارة المخزون متعدد الصيدليات  | 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4E3B"/>
                </a:solidFill>
                <a:latin typeface="Segoe UI"/>
              </a:defRPr>
            </a:pPr>
            <a:r>
              <a:t>منهجية الحلقات المغلقة (Looping Engineering)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دورة تطوير صارمة: تخطيط -&gt; تنفيذ معياري -&gt; اختبار آلي -&gt; تدقيق -&gt; توثيق فوري.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فحص التنسيق والجودة التلقائي: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كود PHP خاضع لأداة Laravel Pint بنسبة توافق 100%.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كود Dart خاضع لـ Flutter Analyze بصفر أخطاء وصفر تحذيرات.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توثيق علمي شامل: وفق معايير APA 7th Edition وسجل تغييرات كامل.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3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4E3B"/>
                </a:solidFill>
                <a:latin typeface="Segoe UI"/>
              </a:defRPr>
            </a:pPr>
            <a:r>
              <a:t>خطوط أنابيب GitHub Actions المؤتمتة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12 اختبار تكاملي ووظيفي (Feature Tests): تغطي قفل التزامن والبحث الجغرافي وعزل الجلسات.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اختبارات Flutter التلقائية: فحص نماذج البيانات وسير الواجهات بنجاح 100%.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حماية فرع main: منع دمج أي كود لا يجتاز كافة الاختبارات بنجاح تام.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جاهزية النشر السحابي الآلي: تشغيل النظام على بيئة سحابية حية.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منظومة خادم وعميل موزعة — معمارية 3-Tier Distributed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100" b="1">
                <a:solidFill>
                  <a:srgbClr val="F8FAFC"/>
                </a:solidFill>
                <a:latin typeface="Segoe UI"/>
              </a:defRPr>
            </a:pPr>
            <a:r>
              <a:t>12. سيناريو العرض التشغيلي المباشر (End-to-End System Demo)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PharmaConnect System  |  نظام تتبع وفرة الأدوية وإدارة المخزون متعدد الصيدليات  | 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2588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560320"/>
                <a:gridCol w="4114800"/>
                <a:gridCol w="3108960"/>
              </a:tblGrid>
              <a:tr h="692331"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الخطوة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البيئة والمنصة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الإجراء المنفذ (Action)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النتيجة التقنية والهندسية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بوابة الويب (المتصفح)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الصيدلي يسجل دخوله ويعدل مخزون Norvasc إلى 10 وسعره 3800 ريال.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حفظ فوري بقاعدة البيانات مع رسالة نجاح.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تطبيق الهاتف (Flutter)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المريض يبحث عن دواء 'Norvasc' في التطبيق.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ظهور صيدلية الأمل بالسعر الجديد والمسافة بالأمتار.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تطبيق الهاتف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المريض يحدد حجز عبوة واحدة ويؤكد الحجز فورياً.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إصدار تذكرة بمؤقت 30 دقيقة وكود حجز فريد.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بوابة الويب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مراقبة شاشة الحجوزات الواردة بالويب.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ظهور الحجز آلياً وخصم المخزون من 10 إلى 9 علب.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بوابة الويب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الصيدلي يضغط زر 'تم التسليم والمحاسبة'.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تحديث حالة الحجز فوراً إلى completed.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تطبيق الهاتف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تذكرة المريض المفتوحة تلتقط التأكيد بالخلفية آلياً.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توقف المؤقت وظهور شارة النجاح الخضراء فوراً.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منظومة خادم وعميل موزعة — معمارية 3-Tier Distributed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100" b="1">
                <a:solidFill>
                  <a:srgbClr val="F8FAFC"/>
                </a:solidFill>
                <a:latin typeface="Segoe UI"/>
              </a:defRPr>
            </a:pPr>
            <a:r>
              <a:t>13. الخاتمة وأهم المعايير والأسئلة التقنية (Technical FAQ)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PharmaConnect System  |  نظام تتبع وفرة الأدوية وإدارة المخزون متعدد الصيدليات  | 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4E3B"/>
                </a:solidFill>
                <a:latin typeface="Segoe UI"/>
              </a:defRPr>
            </a:pPr>
            <a:r>
              <a:t>أهم المنجزات والتطلعات المستقبلية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منظومة متكاملة 3-Tier: جاهزة للتشغيل التجاري والربط الطبي.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استقلالية تامة: الاعتماد على تقنيات مجانية 100% للخرائط والبيانات.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آفاق التطوير القادمة: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دمج الدفع بالمحافظ الرقمية اليمنية (كاش، جوالي، فلوسك).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إدارة أساطيل توصيل الأدوية للمنازل.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التنبؤ بنفاد الأدوية الحرجة بالذكاء الاصطناعي.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3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4E3B"/>
                </a:solidFill>
                <a:latin typeface="Segoe UI"/>
              </a:defRPr>
            </a:pPr>
            <a:r>
              <a:t>أهم الأسئلة التقنية الشائعة (Technical FAQ)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س: أين معالجة الـ Race Condition؟</a:t>
            </a:r>
            <a:br/>
            <a:r>
              <a:t>ج: بدالة createReservation عبر lockForUpdate() داخل DB::transaction().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س: أين خوارزمية المسافة الكروية؟</a:t>
            </a:r>
            <a:br/>
            <a:r>
              <a:t>ج: بدالة calculateHaversineDistance() بنصف قطر الأرض 6371 كم.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س: كيف يعمل الأمان بدون Session بالموبايل؟</a:t>
            </a:r>
            <a:br/>
            <a:r>
              <a:t>ج: عبر Bearer Token مشفر من حزمة Laravel Sanctum.</a:t>
            </a:r>
          </a:p>
          <a:p>
            <a:pPr algn="r"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س: كيف يتكامل النظام مع برامج المحاسبة القائمة؟</a:t>
            </a:r>
            <a:br/>
            <a:r>
              <a:t>ج: عبر Partner B2B RESTful API لمزامنة المخزون وصرف الحجوزات آلياً.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